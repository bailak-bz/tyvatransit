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74" r:id="rId4"/>
    <p:sldId id="269" r:id="rId5"/>
    <p:sldId id="270" r:id="rId6"/>
    <p:sldId id="271" r:id="rId7"/>
    <p:sldId id="275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E6F6"/>
    <a:srgbClr val="000818"/>
    <a:srgbClr val="F9A113"/>
    <a:srgbClr val="F9D861"/>
    <a:srgbClr val="CBE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945220-58D7-482D-8391-50BEB708D7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Box 8"/>
          <p:cNvSpPr txBox="1"/>
          <p:nvPr userDrawn="1"/>
        </p:nvSpPr>
        <p:spPr>
          <a:xfrm>
            <a:off x="1546225" y="323850"/>
            <a:ext cx="10313988" cy="1292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latin typeface="+mn-lt"/>
                <a:cs typeface="+mn-cs"/>
              </a:rPr>
              <a:t>ДЕПАРТАМЕНТ ОБРАЗОВАНИЯ И НАУКИ ГОРОДА МОСКВЫ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cap="small" dirty="0">
                <a:latin typeface="+mn-lt"/>
                <a:cs typeface="+mn-cs"/>
              </a:rPr>
              <a:t>ГОСУДАРСТВЕННОЕ БЮДЖЕТНОЕ ПРОФЕССИОНАЛЬНОЕ ОБРАЗОВАТЕЛЬНОЕ УЧРЕЖДЕНИЕ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cap="small" dirty="0">
                <a:latin typeface="+mn-lt"/>
                <a:cs typeface="+mn-cs"/>
              </a:rPr>
              <a:t>ГОРОДА МОСКВЫ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+mn-lt"/>
                <a:cs typeface="+mn-cs"/>
              </a:rPr>
              <a:t>КОЛЛЕДЖ АВТОМАТИЗАЦИИ И ИНФОРМАЦИОННЫХ ТЕХНОЛОГИЙ № 20</a:t>
            </a:r>
            <a:endParaRPr lang="en-US" sz="2000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pic>
        <p:nvPicPr>
          <p:cNvPr id="8" name="Рисунок 1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539413" y="2859088"/>
            <a:ext cx="1652587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1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313488" y="5641975"/>
            <a:ext cx="693737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14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3917950" y="5614988"/>
            <a:ext cx="12985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5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349500" y="5586413"/>
            <a:ext cx="6921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7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7947025" y="5641975"/>
            <a:ext cx="366713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Рисунок 18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9309100" y="5700713"/>
            <a:ext cx="969963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Рисунок 19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503363" y="5538788"/>
            <a:ext cx="366712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385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D6B3D1-DC3D-40EF-BD86-FC6E6B33FA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9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EADC5-A1BF-4684-A3EC-BA15CDA85F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0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2340F8-EF00-41DC-AEB7-03A094112C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7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C54574-FD96-4511-BEE4-9FD1D98728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1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F221EC-3B5C-4D20-B3BC-14E9F643AA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8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D5B76E-3423-45F8-BE3E-8D33EC1B3D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25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EADC5-A1BF-4684-A3EC-BA15CDA85F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4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EADC5-A1BF-4684-A3EC-BA15CDA85F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8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185D5-F942-44CC-B3EA-4C2FCF333E7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6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CBDF75-CB8F-4272-92FE-D3CD889537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09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34784-7B4B-44D8-9A66-262CC2CA3FE6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CEADC5-A1BF-4684-A3EC-BA15CDA85F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Рисунок 7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57175" y="146050"/>
            <a:ext cx="944563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9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257175" y="2082800"/>
            <a:ext cx="560388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01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42983" y="1700011"/>
            <a:ext cx="11706895" cy="1200687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 algn="ctr">
              <a:defRPr sz="2800" b="1"/>
            </a:pPr>
            <a:r>
              <a:t>Разработка веб-системы онлайн-бронирования</a:t>
            </a:r>
            <a:br/>
            <a:r>
              <a:t>групповых транзитов «ТываТранзит»</a:t>
            </a:r>
            <a:endParaRPr lang="ru-RU" sz="4400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3305"/>
            <a:ext cx="11849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ГОРОДА МОСКВЫ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города Москвы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«Колледж автоматизации и информационных технологий № 20»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/>
            </a:pPr>
            <a:r>
              <a:t>Специальность: 09.02.07 «Информационные системы и программирование»</a:t>
            </a:r>
          </a:p>
          <a:p>
            <a:pPr algn="ctr">
              <a:spcAft>
                <a:spcPts val="400"/>
              </a:spcAft>
              <a:defRPr sz="1800" b="0"/>
            </a:pPr>
            <a:r>
              <a:t>Студент: ФИО студента, группа ___</a:t>
            </a:r>
          </a:p>
          <a:p>
            <a:pPr algn="ctr">
              <a:spcAft>
                <a:spcPts val="400"/>
              </a:spcAft>
              <a:defRPr sz="1800" b="0"/>
            </a:pPr>
            <a:r>
              <a:t>руководитель: ФИО</a:t>
            </a:r>
          </a:p>
          <a:p>
            <a:pPr algn="ctr">
              <a:spcAft>
                <a:spcPts val="400"/>
              </a:spcAft>
              <a:defRPr sz="1800" b="1"/>
            </a:pPr>
            <a:r>
              <a:t>Кызыл,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87199" y="207319"/>
            <a:ext cx="9944599" cy="1325563"/>
          </a:xfrm>
        </p:spPr>
        <p:txBody>
          <a:bodyPr/>
          <a:lstStyle/>
          <a:p>
            <a:pPr algn="ctr">
              <a:defRPr sz="3200" b="1"/>
            </a:pPr>
            <a:r>
              <a:t>Цель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Цель: разработать веб-систему «ТываТранзит» для онлайн-бронирования транзитов из Кызыла на озёра Тывы</a:t>
            </a:r>
          </a:p>
          <a:p>
            <a:pPr>
              <a:spcAft>
                <a:spcPts val="600"/>
              </a:spcAft>
              <a:defRPr sz="2000"/>
            </a:pPr>
            <a:r>
              <a:t>• Проанализировать деятельность заказчика и процесс бронирования</a:t>
            </a:r>
          </a:p>
          <a:p>
            <a:pPr>
              <a:spcAft>
                <a:spcPts val="600"/>
              </a:spcAft>
              <a:defRPr sz="2000"/>
            </a:pPr>
            <a:r>
              <a:t>• Сформулировать требования к системе</a:t>
            </a:r>
          </a:p>
          <a:p>
            <a:pPr>
              <a:spcAft>
                <a:spcPts val="600"/>
              </a:spcAft>
              <a:defRPr sz="2000"/>
            </a:pPr>
            <a:r>
              <a:t>• Спроектировать архитектуру клиент–серверного приложения</a:t>
            </a:r>
          </a:p>
          <a:p>
            <a:pPr>
              <a:spcAft>
                <a:spcPts val="600"/>
              </a:spcAft>
              <a:defRPr sz="2000"/>
            </a:pPr>
            <a:r>
              <a:t>• Реализовать серверную часть (Django REST) и клиентский интерфейс</a:t>
            </a:r>
          </a:p>
          <a:p>
            <a:pPr>
              <a:spcAft>
                <a:spcPts val="600"/>
              </a:spcAft>
              <a:defRPr sz="2000"/>
            </a:pPr>
            <a:r>
              <a:t>• Развернуть систему на Railway и провести тестирование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87199" y="207319"/>
            <a:ext cx="9944599" cy="1325563"/>
          </a:xfrm>
        </p:spPr>
        <p:txBody>
          <a:bodyPr/>
          <a:lstStyle/>
          <a:p>
            <a:pPr algn="ctr">
              <a:defRPr sz="3200" b="1"/>
            </a:pPr>
            <a:r>
              <a:t>О предприятии — заказчике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ИП Ширин-оол Долаана Май-ооловна, г. Кызыл, Республика Тыва</a:t>
            </a:r>
          </a:p>
          <a:p>
            <a:pPr>
              <a:spcAft>
                <a:spcPts val="600"/>
              </a:spcAft>
              <a:defRPr sz="2000"/>
            </a:pPr>
            <a:r>
              <a:t>• Вид деятельности: организация пассажирских транзитов (не туроператор)</a:t>
            </a:r>
          </a:p>
          <a:p>
            <a:pPr>
              <a:spcAft>
                <a:spcPts val="600"/>
              </a:spcAft>
              <a:defRPr sz="2000"/>
            </a:pPr>
            <a:r>
              <a:t>• Маршруты: Кызыл → Чагытай, Тере-Холь, Азас; обратные выезды</a:t>
            </a:r>
          </a:p>
          <a:p>
            <a:pPr>
              <a:spcAft>
                <a:spcPts val="600"/>
              </a:spcAft>
              <a:defRPr sz="2000"/>
            </a:pPr>
            <a:r>
              <a:t>• Пункт сбора: ул. Кочетова, 2</a:t>
            </a:r>
          </a:p>
          <a:p>
            <a:pPr>
              <a:spcAft>
                <a:spcPts val="600"/>
              </a:spcAft>
              <a:defRPr sz="2000"/>
            </a:pPr>
            <a:r>
              <a:t>• Парк: минивэн (до 8 мест) и микроавтобус (до 12 мест)</a:t>
            </a:r>
          </a:p>
          <a:p>
            <a:pPr>
              <a:spcAft>
                <a:spcPts val="600"/>
              </a:spcAft>
              <a:defRPr sz="2000"/>
            </a:pPr>
            <a:r>
              <a:t>• До автоматизации: бронирование по телефону и в мессенджерах</a:t>
            </a:r>
          </a:p>
        </p:txBody>
      </p:sp>
    </p:spTree>
    <p:extLst>
      <p:ext uri="{BB962C8B-B14F-4D97-AF65-F5344CB8AC3E}">
        <p14:creationId xmlns:p14="http://schemas.microsoft.com/office/powerpoint/2010/main" val="386801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87199" y="207319"/>
            <a:ext cx="9944599" cy="1325563"/>
          </a:xfrm>
        </p:spPr>
        <p:txBody>
          <a:bodyPr/>
          <a:lstStyle/>
          <a:p>
            <a:pPr algn="ctr">
              <a:defRPr sz="3200" b="1"/>
            </a:pPr>
            <a: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Озёра Тывы популярны у туристов, спрос на транзиты растёт в сезон</a:t>
            </a:r>
          </a:p>
          <a:p>
            <a:pPr>
              <a:spcAft>
                <a:spcPts val="600"/>
              </a:spcAft>
              <a:defRPr sz="2000"/>
            </a:pPr>
            <a:r>
              <a:t>• Ручной учёт мест приводит к ошибкам и перебронированию</a:t>
            </a:r>
          </a:p>
          <a:p>
            <a:pPr>
              <a:spcAft>
                <a:spcPts val="600"/>
              </a:spcAft>
              <a:defRPr sz="2000"/>
            </a:pPr>
            <a:r>
              <a:t>• Нет единого публичного расписания — клиенты звонят повторно</a:t>
            </a:r>
          </a:p>
          <a:p>
            <a:pPr>
              <a:spcAft>
                <a:spcPts val="600"/>
              </a:spcAft>
              <a:defRPr sz="2000"/>
            </a:pPr>
            <a:r>
              <a:t>• Заявки на личные поездки теряются в переписке</a:t>
            </a:r>
          </a:p>
          <a:p>
            <a:pPr>
              <a:spcAft>
                <a:spcPts val="600"/>
              </a:spcAft>
              <a:defRPr sz="2000"/>
            </a:pPr>
            <a:r>
              <a:t>• Небольшому перевозчику не нужна сложная CRM — достаточно специализированного веб-сервиса</a:t>
            </a:r>
          </a:p>
        </p:txBody>
      </p:sp>
    </p:spTree>
    <p:extLst>
      <p:ext uri="{BB962C8B-B14F-4D97-AF65-F5344CB8AC3E}">
        <p14:creationId xmlns:p14="http://schemas.microsoft.com/office/powerpoint/2010/main" val="385788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/>
            </a:pPr>
            <a:r>
              <a:t>Используемые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Backend: Python 3.12, Django 5, Django REST Framework</a:t>
            </a:r>
          </a:p>
          <a:p>
            <a:pPr>
              <a:spcAft>
                <a:spcPts val="600"/>
              </a:spcAft>
              <a:defRPr sz="2000"/>
            </a:pPr>
            <a:r>
              <a:t>• База данных: PostgreSQL (прод), SQLite (локальная разработка)</a:t>
            </a:r>
          </a:p>
          <a:p>
            <a:pPr>
              <a:spcAft>
                <a:spcPts val="600"/>
              </a:spcAft>
              <a:defRPr sz="2000"/>
            </a:pPr>
            <a:r>
              <a:t>• Frontend: HTML5, CSS3, JavaScript (многостраничный интерфейс)</a:t>
            </a:r>
          </a:p>
          <a:p>
            <a:pPr>
              <a:spcAft>
                <a:spcPts val="600"/>
              </a:spcAft>
              <a:defRPr sz="2000"/>
            </a:pPr>
            <a:r>
              <a:t>• Статика: WhiteNoise; контейнеризация: Docker</a:t>
            </a:r>
          </a:p>
          <a:p>
            <a:pPr>
              <a:spcAft>
                <a:spcPts val="600"/>
              </a:spcAft>
              <a:defRPr sz="2000"/>
            </a:pPr>
            <a:r>
              <a:t>• Деплой: Railway, автосборка из GitHub (ветка main)</a:t>
            </a:r>
          </a:p>
          <a:p>
            <a:pPr>
              <a:spcAft>
                <a:spcPts val="600"/>
              </a:spcAft>
              <a:defRPr sz="2000"/>
            </a:pPr>
            <a:r>
              <a:t>• Уведомления: SMTP (email-билеты пассажиру и перевозчику)</a:t>
            </a:r>
          </a:p>
          <a:p>
            <a:pPr>
              <a:spcAft>
                <a:spcPts val="600"/>
              </a:spcAft>
              <a:defRPr sz="2000"/>
            </a:pPr>
            <a:r>
              <a:t>• Репозиторий: github.com/bailak-bz/TyvaTransit</a:t>
            </a:r>
          </a:p>
        </p:txBody>
      </p:sp>
    </p:spTree>
    <p:extLst>
      <p:ext uri="{BB962C8B-B14F-4D97-AF65-F5344CB8AC3E}">
        <p14:creationId xmlns:p14="http://schemas.microsoft.com/office/powerpoint/2010/main" val="89137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/>
            </a:pPr>
            <a:r>
              <a:t>Дизайн, функционал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/>
            </a:pPr>
            <a:r>
              <a:t>Публичная часть сайта:</a:t>
            </a:r>
          </a:p>
          <a:p>
            <a:pPr>
              <a:spcAft>
                <a:spcPts val="600"/>
              </a:spcAft>
              <a:defRPr sz="2000"/>
            </a:pPr>
            <a:r>
              <a:t>• Главная — выбор типа поездки (общий рейс / личная)</a:t>
            </a:r>
          </a:p>
          <a:p>
            <a:pPr>
              <a:spcAft>
                <a:spcPts val="600"/>
              </a:spcAft>
              <a:defRPr sz="2000"/>
            </a:pPr>
            <a:r>
              <a:t>• Каталог рейсов с фильтрацией по направлению и дате</a:t>
            </a:r>
          </a:p>
          <a:p>
            <a:pPr>
              <a:spcAft>
                <a:spcPts val="600"/>
              </a:spcAft>
              <a:defRPr sz="2000"/>
            </a:pPr>
            <a:r>
              <a:t>• Бронирование мест, проверка билета по номеру и телефону</a:t>
            </a:r>
          </a:p>
        </p:txBody>
      </p:sp>
      <p:pic>
        <p:nvPicPr>
          <p:cNvPr id="4" name="Picture 3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76072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0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/>
            </a:pPr>
            <a:r>
              <a:t>Дизайн, функционал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/>
            </a:pPr>
            <a:r>
              <a:t>API и администрирование:</a:t>
            </a:r>
          </a:p>
          <a:p>
            <a:pPr>
              <a:spcAft>
                <a:spcPts val="600"/>
              </a:spcAft>
              <a:defRPr sz="2000"/>
            </a:pPr>
            <a:r>
              <a:t>• REST API: /api/trips/, /api/bookings/shared/, /api/bookings/private/</a:t>
            </a:r>
          </a:p>
          <a:p>
            <a:pPr>
              <a:spcAft>
                <a:spcPts val="600"/>
              </a:spcAft>
              <a:defRPr sz="2000"/>
            </a:pPr>
            <a:r>
              <a:t>• Уникальный код брони: TYV-T-ГГГГ-XXXX (общий), TYV-P-... (личный)</a:t>
            </a:r>
          </a:p>
          <a:p>
            <a:pPr>
              <a:spcAft>
                <a:spcPts val="600"/>
              </a:spcAft>
              <a:defRPr sz="2000"/>
            </a:pPr>
            <a:r>
              <a:t>• Django Admin — управление направлениями, рейсами и бронями</a:t>
            </a:r>
          </a:p>
          <a:p>
            <a:pPr>
              <a:spcAft>
                <a:spcPts val="600"/>
              </a:spcAft>
              <a:defRPr sz="2000"/>
            </a:pPr>
            <a:r>
              <a:t>• Транзакции и блокировка мест при одновременной покупке</a:t>
            </a:r>
          </a:p>
        </p:txBody>
      </p:sp>
      <p:pic>
        <p:nvPicPr>
          <p:cNvPr id="4" name="Picture 3" descr="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576072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5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87199" y="207319"/>
            <a:ext cx="9944599" cy="1325563"/>
          </a:xfrm>
        </p:spPr>
        <p:txBody>
          <a:bodyPr/>
          <a:lstStyle/>
          <a:p>
            <a:pPr algn="ctr">
              <a:defRPr sz="3200" b="1"/>
            </a:pPr>
            <a: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Создана работающая веб-система бронирования транзитов «ТываТранзит»</a:t>
            </a:r>
          </a:p>
          <a:p>
            <a:pPr>
              <a:spcAft>
                <a:spcPts val="600"/>
              </a:spcAft>
              <a:defRPr sz="2000"/>
            </a:pPr>
            <a:r>
              <a:t>• Автоматизированы общие рейсы и заявки на личные поездки</a:t>
            </a:r>
          </a:p>
          <a:p>
            <a:pPr>
              <a:spcAft>
                <a:spcPts val="600"/>
              </a:spcAft>
              <a:defRPr sz="2000"/>
            </a:pPr>
            <a:r>
              <a:t>• Пассажир получает билет на email и может проверить бронь онлайн</a:t>
            </a:r>
          </a:p>
          <a:p>
            <a:pPr>
              <a:spcAft>
                <a:spcPts val="600"/>
              </a:spcAft>
              <a:defRPr sz="2000"/>
            </a:pPr>
            <a:r>
              <a:t>• Система развёрнута на Railway (Django + PostgreSQL)</a:t>
            </a:r>
          </a:p>
          <a:p>
            <a:pPr>
              <a:spcAft>
                <a:spcPts val="600"/>
              </a:spcAft>
              <a:defRPr sz="2000"/>
            </a:pPr>
            <a:r>
              <a:t>• Перспективы: реальная оплата (СБП), SMS, личный кабинет перевозчика</a:t>
            </a:r>
          </a:p>
        </p:txBody>
      </p:sp>
    </p:spTree>
    <p:extLst>
      <p:ext uri="{BB962C8B-B14F-4D97-AF65-F5344CB8AC3E}">
        <p14:creationId xmlns:p14="http://schemas.microsoft.com/office/powerpoint/2010/main" val="4157180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87199" y="207319"/>
            <a:ext cx="9944599" cy="1325563"/>
          </a:xfrm>
        </p:spPr>
        <p:txBody>
          <a:bodyPr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6993" y="4893972"/>
            <a:ext cx="63374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94141" y="3028761"/>
            <a:ext cx="854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/>
            </a:pPr>
            <a:r>
              <a:t>https://ваш-домен.up.railway.app</a:t>
            </a:r>
          </a:p>
        </p:txBody>
      </p:sp>
    </p:spTree>
    <p:extLst>
      <p:ext uri="{BB962C8B-B14F-4D97-AF65-F5344CB8AC3E}">
        <p14:creationId xmlns:p14="http://schemas.microsoft.com/office/powerpoint/2010/main" val="30832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</TotalTime>
  <Words>40</Words>
  <Application>Microsoft Office PowerPoint</Application>
  <PresentationFormat>Широкоэкранный</PresentationFormat>
  <Paragraphs>13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Титульный слайд   </vt:lpstr>
      <vt:lpstr>Цель и задачи</vt:lpstr>
      <vt:lpstr>О предприятии - заказчике</vt:lpstr>
      <vt:lpstr>Актуальность</vt:lpstr>
      <vt:lpstr>Используемые технологии</vt:lpstr>
      <vt:lpstr>Дизайн, функционал приложения</vt:lpstr>
      <vt:lpstr>Дизайн, функционал приложения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18</cp:revision>
  <dcterms:created xsi:type="dcterms:W3CDTF">2020-05-23T15:20:53Z</dcterms:created>
  <dcterms:modified xsi:type="dcterms:W3CDTF">2025-05-18T07:53:48Z</dcterms:modified>
</cp:coreProperties>
</file>